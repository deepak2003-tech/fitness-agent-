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87" r:id="rId9"/>
    <p:sldId id="262"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presProps" Target="presProps.xml" /><Relationship Id="rId10" Type="http://schemas.openxmlformats.org/officeDocument/2006/relationships/slide" Target="slides/slide9.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384350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i="1" dirty="0"/>
              <a:t>IBM University Engagement Project Submission</a:t>
            </a:r>
            <a:br>
              <a:rPr lang="en-US" b="1" i="1" dirty="0"/>
            </a:br>
            <a:endParaRPr lang="en-IN" b="1" i="1"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831850" y="3648075"/>
            <a:ext cx="10515600" cy="1500187"/>
          </a:xfrm>
        </p:spPr>
        <p:txBody>
          <a:bodyPr/>
          <a:lstStyle/>
          <a:p>
            <a:pPr algn="ctr"/>
            <a:r>
              <a:rPr lang="en-US" b="1" i="1" dirty="0"/>
              <a:t>“Exploring the Power of Agentic AI with IBM Granite and </a:t>
            </a:r>
            <a:r>
              <a:rPr lang="en-GB" b="1" i="1" dirty="0"/>
              <a:t>Orchestrate”</a:t>
            </a:r>
            <a:endParaRPr lang="en-IN" b="1"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44592786"/>
              </p:ext>
            </p:extLst>
          </p:nvPr>
        </p:nvGraphicFramePr>
        <p:xfrm>
          <a:off x="590371" y="2522365"/>
          <a:ext cx="11143237" cy="2924744"/>
        </p:xfrm>
        <a:graphic>
          <a:graphicData uri="http://schemas.openxmlformats.org/drawingml/2006/table">
            <a:tbl>
              <a:tblPr>
                <a:noFill/>
                <a:tableStyleId>{0AAD8F4D-43EB-41E5-8A38-28AB6DFB1B60}</a:tableStyleId>
              </a:tblPr>
              <a:tblGrid>
                <a:gridCol w="2449105">
                  <a:extLst>
                    <a:ext uri="{9D8B030D-6E8A-4147-A177-3AD203B41FA5}">
                      <a16:colId xmlns:a16="http://schemas.microsoft.com/office/drawing/2014/main" val="20000"/>
                    </a:ext>
                  </a:extLst>
                </a:gridCol>
                <a:gridCol w="2898044">
                  <a:extLst>
                    <a:ext uri="{9D8B030D-6E8A-4147-A177-3AD203B41FA5}">
                      <a16:colId xmlns:a16="http://schemas.microsoft.com/office/drawing/2014/main" val="20002"/>
                    </a:ext>
                  </a:extLst>
                </a:gridCol>
                <a:gridCol w="2898044">
                  <a:extLst>
                    <a:ext uri="{9D8B030D-6E8A-4147-A177-3AD203B41FA5}">
                      <a16:colId xmlns:a16="http://schemas.microsoft.com/office/drawing/2014/main" val="20003"/>
                    </a:ext>
                  </a:extLst>
                </a:gridCol>
                <a:gridCol w="2898044">
                  <a:extLst>
                    <a:ext uri="{9D8B030D-6E8A-4147-A177-3AD203B41FA5}">
                      <a16:colId xmlns:a16="http://schemas.microsoft.com/office/drawing/2014/main" val="20004"/>
                    </a:ext>
                  </a:extLst>
                </a:gridCol>
              </a:tblGrid>
              <a:tr h="1313476">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11268">
                <a:tc>
                  <a:txBody>
                    <a:bodyPr/>
                    <a:lstStyle/>
                    <a:p>
                      <a:pPr marL="0" marR="0" lvl="0" indent="0" algn="l" rtl="0">
                        <a:spcBef>
                          <a:spcPts val="0"/>
                        </a:spcBef>
                        <a:spcAft>
                          <a:spcPts val="0"/>
                        </a:spcAft>
                        <a:buNone/>
                      </a:pPr>
                      <a:endParaRPr lang="en-GB" dirty="0"/>
                    </a:p>
                    <a:p>
                      <a:pPr marL="0" marR="0" lvl="0" indent="0" algn="l" rtl="0">
                        <a:spcBef>
                          <a:spcPts val="0"/>
                        </a:spcBef>
                        <a:spcAft>
                          <a:spcPts val="0"/>
                        </a:spcAft>
                        <a:buNone/>
                      </a:pPr>
                      <a:endParaRPr lang="en-GB" dirty="0"/>
                    </a:p>
                    <a:p>
                      <a:pPr marL="0" marR="0" lvl="0" indent="0" algn="l" rtl="0">
                        <a:spcBef>
                          <a:spcPts val="0"/>
                        </a:spcBef>
                        <a:spcAft>
                          <a:spcPts val="0"/>
                        </a:spcAft>
                        <a:buNone/>
                      </a:pPr>
                      <a:r>
                        <a:rPr lang="en-IN" dirty="0"/>
                        <a:t>     </a:t>
                      </a:r>
                      <a:r>
                        <a:rPr lang="en-GB" dirty="0"/>
                        <a:t>Deepak Dilip Phapale</a:t>
                      </a:r>
                      <a:endParaRPr dirty="0"/>
                    </a:p>
                  </a:txBody>
                  <a:tcPr marL="91450" marR="91450" marT="45725" marB="45725">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GB" dirty="0"/>
                    </a:p>
                    <a:p>
                      <a:pPr marL="0" marR="0" lvl="0" indent="0" algn="l" rtl="0">
                        <a:spcBef>
                          <a:spcPts val="0"/>
                        </a:spcBef>
                        <a:spcAft>
                          <a:spcPts val="0"/>
                        </a:spcAft>
                        <a:buNone/>
                      </a:pPr>
                      <a:endParaRPr lang="en-GB" dirty="0"/>
                    </a:p>
                    <a:p>
                      <a:pPr marL="0" marR="0" lvl="0" indent="0" algn="l" rtl="0">
                        <a:spcBef>
                          <a:spcPts val="0"/>
                        </a:spcBef>
                        <a:spcAft>
                          <a:spcPts val="0"/>
                        </a:spcAft>
                        <a:buNone/>
                      </a:pPr>
                      <a:r>
                        <a:rPr lang="en-GB" dirty="0"/>
                        <a:t>deepakphapale2003@gmail.com</a:t>
                      </a:r>
                      <a:endParaRPr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GB" dirty="0"/>
                    </a:p>
                    <a:p>
                      <a:pPr marL="0" marR="0" lvl="0" indent="0" algn="l" rtl="0">
                        <a:spcBef>
                          <a:spcPts val="0"/>
                        </a:spcBef>
                        <a:spcAft>
                          <a:spcPts val="0"/>
                        </a:spcAft>
                        <a:buNone/>
                      </a:pPr>
                      <a:endParaRPr lang="en-GB" dirty="0"/>
                    </a:p>
                    <a:p>
                      <a:pPr marL="0" marR="0" lvl="0" indent="0" algn="l" rtl="0">
                        <a:spcBef>
                          <a:spcPts val="0"/>
                        </a:spcBef>
                        <a:spcAft>
                          <a:spcPts val="0"/>
                        </a:spcAft>
                        <a:buNone/>
                      </a:pPr>
                      <a:r>
                        <a:rPr lang="en-GB" dirty="0"/>
                        <a:t>          </a:t>
                      </a:r>
                      <a:r>
                        <a:rPr lang="en-IN" dirty="0"/>
                        <a:t>     </a:t>
                      </a:r>
                      <a:r>
                        <a:rPr lang="en-GB" dirty="0"/>
                        <a:t>7977275586</a:t>
                      </a:r>
                      <a:endParaRPr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rot="10800000" flipV="1">
            <a:off x="590371" y="1737118"/>
            <a:ext cx="9394988"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590371" y="1001301"/>
            <a:ext cx="9394990"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GB" sz="2400" b="1" dirty="0">
                <a:highlight>
                  <a:srgbClr val="FFFF00"/>
                </a:highlight>
              </a:rPr>
              <a:t>Fitness Buddy</a:t>
            </a:r>
            <a:r>
              <a:rPr lang="en-US" sz="2400" b="1" dirty="0">
                <a:highlight>
                  <a:srgbClr val="FFFF00"/>
                </a:highlight>
              </a:rPr>
              <a:t>]</a:t>
            </a:r>
            <a:endParaRPr lang="en-IN" sz="2400" b="1" dirty="0">
              <a:highlight>
                <a:srgbClr val="FFFF00"/>
              </a:highlight>
            </a:endParaRPr>
          </a:p>
        </p:txBody>
      </p:sp>
      <p:pic>
        <p:nvPicPr>
          <p:cNvPr id="2" name="Picture 1">
            <a:extLst>
              <a:ext uri="{FF2B5EF4-FFF2-40B4-BE49-F238E27FC236}">
                <a16:creationId xmlns:a16="http://schemas.microsoft.com/office/drawing/2014/main" id="{FC9EA353-705D-AF39-E997-99C6557F913C}"/>
              </a:ext>
            </a:extLst>
          </p:cNvPr>
          <p:cNvPicPr>
            <a:picLocks noChangeAspect="1"/>
          </p:cNvPicPr>
          <p:nvPr/>
        </p:nvPicPr>
        <p:blipFill>
          <a:blip r:embed="rId3"/>
          <a:stretch>
            <a:fillRect/>
          </a:stretch>
        </p:blipFill>
        <p:spPr>
          <a:xfrm>
            <a:off x="3921271" y="3937372"/>
            <a:ext cx="997213" cy="1374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36744" y="1165753"/>
            <a:ext cx="10607040" cy="5909310"/>
          </a:xfrm>
          <a:prstGeom prst="rect">
            <a:avLst/>
          </a:prstGeom>
          <a:noFill/>
        </p:spPr>
        <p:txBody>
          <a:bodyPr wrap="square" rtlCol="0">
            <a:spAutoFit/>
          </a:bodyPr>
          <a:lstStyle/>
          <a:p>
            <a:pPr fontAlgn="base"/>
            <a:r>
              <a:rPr lang="en-US" b="1" dirty="0"/>
              <a:t>Problem Statement : </a:t>
            </a:r>
            <a:r>
              <a:rPr lang="en-GB" b="1" dirty="0"/>
              <a:t>Fitness Buddy</a:t>
            </a:r>
            <a:endParaRPr lang="en-US" dirty="0"/>
          </a:p>
          <a:p>
            <a:pPr fontAlgn="base"/>
            <a:endParaRPr lang="en-US" b="1" dirty="0"/>
          </a:p>
          <a:p>
            <a:pPr fontAlgn="base"/>
            <a:r>
              <a:rPr lang="en-US" b="1" dirty="0"/>
              <a:t>The Challenge</a:t>
            </a:r>
            <a:r>
              <a:rPr lang="en-US" dirty="0"/>
              <a:t> </a:t>
            </a:r>
          </a:p>
          <a:p>
            <a:pPr fontAlgn="base"/>
            <a:r>
              <a:rPr lang="en-GB" dirty="0"/>
              <a:t>Good health is the foundation of life, but individuals often struggle with maintaining consistent fitness routines, staying motivated, and accessing personalized guidance. Information about workouts, healthy habits, and basic nutrition is scattered across unreliable sources. Without personalized, real-time support, many fail to build sustainable fitness habits or make informed lifestyle choices.</a:t>
            </a:r>
            <a:endParaRPr lang="en-US" dirty="0"/>
          </a:p>
          <a:p>
            <a:pPr fontAlgn="base"/>
            <a:endParaRPr lang="en-US" dirty="0"/>
          </a:p>
          <a:p>
            <a:pPr fontAlgn="base"/>
            <a:r>
              <a:rPr lang="en-US" b="1" dirty="0"/>
              <a:t>The Objective</a:t>
            </a:r>
            <a:r>
              <a:rPr lang="en-US" dirty="0"/>
              <a:t> </a:t>
            </a:r>
          </a:p>
          <a:p>
            <a:pPr fontAlgn="base"/>
            <a:r>
              <a:rPr lang="en-GB" dirty="0"/>
              <a:t>Build an AI-powered Fitness Buddy that delivers personalized workout routines and lifestyle guidance for individuals. The solution should:</a:t>
            </a:r>
            <a:endParaRPr lang="en-US" dirty="0"/>
          </a:p>
          <a:p>
            <a:pPr marL="285750" indent="-285750" fontAlgn="base">
              <a:buFont typeface="Arial" panose="020B0604020202020204" pitchFamily="34" charset="0"/>
              <a:buChar char="•"/>
            </a:pPr>
            <a:r>
              <a:rPr lang="en-US" b="1" dirty="0"/>
              <a:t>Personalized </a:t>
            </a:r>
            <a:r>
              <a:rPr lang="en-GB" b="1" dirty="0"/>
              <a:t>Workout </a:t>
            </a:r>
            <a:r>
              <a:rPr lang="en-US" b="1" dirty="0"/>
              <a:t>Plans</a:t>
            </a:r>
            <a:r>
              <a:rPr lang="en-US" dirty="0"/>
              <a:t> – </a:t>
            </a:r>
            <a:r>
              <a:rPr lang="en-GB" dirty="0"/>
              <a:t>Recommend home workouts and routines based on age, fitness level, available time, equipment, and personal goals.</a:t>
            </a:r>
            <a:endParaRPr lang="en-US" dirty="0"/>
          </a:p>
          <a:p>
            <a:pPr marL="285750" indent="-285750" fontAlgn="base">
              <a:buFont typeface="Arial" panose="020B0604020202020204" pitchFamily="34" charset="0"/>
              <a:buChar char="•"/>
            </a:pPr>
            <a:r>
              <a:rPr lang="en-GB" b="1" dirty="0"/>
              <a:t>Motivation &amp; Habit Tracking</a:t>
            </a:r>
            <a:r>
              <a:rPr lang="en-US" dirty="0"/>
              <a:t> – </a:t>
            </a:r>
            <a:r>
              <a:rPr lang="en-GB" dirty="0"/>
              <a:t>Provide daily motivational tips, fitness inspiration, and reminders to encourage consistency and habit-building.</a:t>
            </a:r>
            <a:endParaRPr lang="en-US" dirty="0"/>
          </a:p>
          <a:p>
            <a:pPr marL="285750" indent="-285750" fontAlgn="base">
              <a:buFont typeface="Arial" panose="020B0604020202020204" pitchFamily="34" charset="0"/>
              <a:buChar char="•"/>
            </a:pPr>
            <a:r>
              <a:rPr lang="en-GB" b="1" dirty="0"/>
              <a:t>Basic Nutrition Guidance </a:t>
            </a:r>
            <a:r>
              <a:rPr lang="en-US" dirty="0"/>
              <a:t>– </a:t>
            </a:r>
            <a:r>
              <a:rPr lang="en-GB" dirty="0"/>
              <a:t>Suggest simple, nutritious meal ideas that complement fitness goals without complex calorie counting.</a:t>
            </a:r>
            <a:endParaRPr lang="en-US" dirty="0"/>
          </a:p>
          <a:p>
            <a:pPr marL="285750" indent="-285750" fontAlgn="base">
              <a:buFont typeface="Arial" panose="020B0604020202020204" pitchFamily="34" charset="0"/>
              <a:buChar char="•"/>
            </a:pPr>
            <a:r>
              <a:rPr lang="en-GB" b="1" dirty="0"/>
              <a:t>On demand Fitness Coach – </a:t>
            </a:r>
            <a:r>
              <a:rPr lang="en-GB" i="1" dirty="0"/>
              <a:t>Allow users to ask fitness questions via chat/voice and get instant,friendly advice available 24×7.</a:t>
            </a:r>
            <a:endParaRPr lang="en-GB" dirty="0"/>
          </a:p>
          <a:p>
            <a:pPr marL="285750" indent="-285750" fontAlgn="base">
              <a:buFont typeface="Arial" panose="020B0604020202020204" pitchFamily="34" charset="0"/>
              <a:buChar char="•"/>
            </a:pPr>
            <a:r>
              <a:rPr lang="en-GB" b="1" dirty="0"/>
              <a:t>Progress Monitoring – </a:t>
            </a:r>
            <a:r>
              <a:rPr lang="en-GB" i="1" dirty="0"/>
              <a:t>Track workout completion, streaks, and basic milestones to visualize improvement and maintain engagement.</a:t>
            </a:r>
            <a:endParaRPr lang="en-US" b="1" dirty="0"/>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GB" b="1" dirty="0"/>
              <a:t>Fitness &amp; nutrition </a:t>
            </a:r>
            <a:r>
              <a:rPr lang="en-US" b="1" dirty="0"/>
              <a:t>Knowledge Agent</a:t>
            </a:r>
            <a:r>
              <a:rPr lang="en-US" dirty="0"/>
              <a:t> (fetches</a:t>
            </a:r>
            <a:r>
              <a:rPr lang="en-GB" dirty="0"/>
              <a:t> fitness &amp; nutritional </a:t>
            </a:r>
            <a:r>
              <a:rPr lang="en-US" dirty="0"/>
              <a:t>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236744" y="594591"/>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031325"/>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endParaRPr lang="en-IN" dirty="0"/>
          </a:p>
          <a:p>
            <a:pPr fontAlgn="base"/>
            <a:r>
              <a:rPr lang="en-IN" dirty="0"/>
              <a:t>I used </a:t>
            </a:r>
            <a:r>
              <a:rPr lang="en-GB" dirty="0">
                <a:highlight>
                  <a:srgbClr val="FFFF00"/>
                </a:highlight>
              </a:rPr>
              <a:t>watsonx Orchestrate</a:t>
            </a:r>
            <a:r>
              <a:rPr lang="en-IN" dirty="0">
                <a:highlight>
                  <a:srgbClr val="FFFF00"/>
                </a:highlight>
              </a:rPr>
              <a:t>+ IBM watsonx.ai + </a:t>
            </a:r>
            <a:r>
              <a:rPr lang="en-GB" dirty="0">
                <a:highlight>
                  <a:srgbClr val="FFFF00"/>
                </a:highlight>
              </a:rPr>
              <a:t>IBM Granite Models on IBM Cloud Lite</a:t>
            </a:r>
            <a:endParaRPr lang="en-IN" dirty="0">
              <a:highlight>
                <a:srgbClr val="FFFF00"/>
              </a:highlight>
            </a:endParaRP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66751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5047536"/>
          </a:xfrm>
          <a:prstGeom prst="rect">
            <a:avLst/>
          </a:prstGeom>
          <a:noFill/>
        </p:spPr>
        <p:txBody>
          <a:bodyPr wrap="square" rtlCol="0">
            <a:spAutoFit/>
          </a:bodyPr>
          <a:lstStyle/>
          <a:p>
            <a:pPr fontAlgn="base"/>
            <a:endParaRPr lang="en-US" b="1" dirty="0"/>
          </a:p>
          <a:p>
            <a:r>
              <a:rPr lang="en-US" b="1" dirty="0"/>
              <a:t>Proposed Solution: AI-Powered </a:t>
            </a:r>
            <a:r>
              <a:rPr lang="en-GB" b="1" dirty="0"/>
              <a:t>Fitness </a:t>
            </a:r>
            <a:r>
              <a:rPr lang="en-US" b="1" dirty="0"/>
              <a:t>Agent</a:t>
            </a:r>
            <a:r>
              <a:rPr lang="en-GB" dirty="0"/>
              <a:t>
The proposed solution is an AI-powered conversational Fitness Buddy built using IBM watsonx Orchestrate and IBM Granite Models to provide personalized, real-time fitness guidance and motivation. The system addresses challenges in workout planning, habit consistency, and accessible fitness coaching through an intelligent, conversational interface.
At its core, the solution uses IBM Granite LLM integrated with watsonx Orchestrate to understand user queries in natural language and provide context-aware responses. The system leverages built-in tools and custom skills to deliver comprehensive fitness support without requiring complex infrastructure.
</a:t>
            </a:r>
            <a:endParaRPr lang="en-GB" b="1" dirty="0"/>
          </a:p>
          <a:p>
            <a:r>
              <a:rPr lang="en-GB" b="1" dirty="0"/>
              <a:t>
The solution consists of four key components:</a:t>
            </a:r>
            <a:r>
              <a:rPr lang="en-GB" dirty="0"/>
              <a:t>
</a:t>
            </a:r>
            <a:r>
              <a:rPr lang="en-GB" b="1" dirty="0"/>
              <a:t>Workout</a:t>
            </a:r>
            <a:r>
              <a:rPr lang="en-GB" dirty="0"/>
              <a:t> </a:t>
            </a:r>
            <a:r>
              <a:rPr lang="en-GB" b="1" dirty="0"/>
              <a:t>Recommendation</a:t>
            </a:r>
            <a:r>
              <a:rPr lang="en-GB" dirty="0"/>
              <a:t> Engine generates personalized home workout routines based on user inputs such as age, fitness level, available time, equipment, and specific goals like weight loss or muscle gain.
</a:t>
            </a:r>
            <a:r>
              <a:rPr lang="en-GB" b="1" dirty="0"/>
              <a:t>Motivation</a:t>
            </a:r>
            <a:r>
              <a:rPr lang="en-GB" dirty="0"/>
              <a:t> </a:t>
            </a:r>
            <a:r>
              <a:rPr lang="en-GB" b="1" dirty="0"/>
              <a:t>&amp;</a:t>
            </a:r>
            <a:r>
              <a:rPr lang="en-GB" dirty="0"/>
              <a:t> </a:t>
            </a:r>
            <a:r>
              <a:rPr lang="en-GB" b="1" dirty="0"/>
              <a:t>Habit</a:t>
            </a:r>
            <a:r>
              <a:rPr lang="en-GB" dirty="0"/>
              <a:t> Coach provides daily motivational messages, fitness tips, and consistency reminders to help users build sustainable habits and overcome workout procrastination.
</a:t>
            </a:r>
            <a:r>
              <a:rPr lang="en-GB" b="1" dirty="0"/>
              <a:t>Basic</a:t>
            </a:r>
            <a:r>
              <a:rPr lang="en-GB" dirty="0"/>
              <a:t> </a:t>
            </a:r>
            <a:r>
              <a:rPr lang="en-GB" b="1" dirty="0"/>
              <a:t>Nutrition</a:t>
            </a:r>
            <a:r>
              <a:rPr lang="en-GB" dirty="0"/>
              <a:t> </a:t>
            </a:r>
            <a:r>
              <a:rPr lang="en-GB" b="1" dirty="0"/>
              <a:t>Guide</a:t>
            </a:r>
            <a:r>
              <a:rPr lang="en-GB" dirty="0"/>
              <a:t> suggests simple, healthy meal ideas that complement workout routines, focusing on protein intake, hydration, and post-workout recovery without complex calorie tracking.
</a:t>
            </a:r>
            <a:r>
              <a:rPr lang="en-GB" b="1" dirty="0"/>
              <a:t>Progress</a:t>
            </a:r>
            <a:r>
              <a:rPr lang="en-GB" dirty="0"/>
              <a:t> </a:t>
            </a:r>
            <a:r>
              <a:rPr lang="en-GB" b="1" dirty="0"/>
              <a:t>&amp;</a:t>
            </a:r>
            <a:r>
              <a:rPr lang="en-GB" dirty="0"/>
              <a:t> </a:t>
            </a:r>
            <a:r>
              <a:rPr lang="en-GB" b="1" dirty="0"/>
              <a:t>Engagement</a:t>
            </a:r>
            <a:r>
              <a:rPr lang="en-GB" dirty="0"/>
              <a:t> Tracker monitors workout streaks, completed sessions, and basic milestones to visualize improvement and maintain user engagement through positive reinforcement.
The solution includes a user-friendly chat interface built within watsonx Orchestrate that allows users to interact via text, available 24x7 on web and mobile. IBM watsonx Orchestrate handles agent orchestration, tool integration, and conversation flow, while Granite model power reasoning, personalization and natural dialogue generation.
</a:t>
            </a:r>
            <a:endParaRPr lang="en-US"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IN" sz="2400" b="1" i="0" u="none" strike="noStrike" cap="none" dirty="0">
                <a:solidFill>
                  <a:srgbClr val="051D3A"/>
                </a:solidFill>
                <a:latin typeface="Times New Roman"/>
                <a:ea typeface="Times New Roman"/>
                <a:cs typeface="Times New Roman"/>
                <a:sym typeface="Times New Roman"/>
              </a:rPr>
              <a:t>Orchestrate</a:t>
            </a:r>
            <a:r>
              <a:rPr lang="en-US" sz="3500" b="1" i="0" u="none" strike="noStrike" cap="none" dirty="0">
                <a:solidFill>
                  <a:srgbClr val="051D3A"/>
                </a:solidFill>
                <a:latin typeface="Times New Roman"/>
                <a:ea typeface="Times New Roman"/>
                <a:cs typeface="Times New Roman"/>
                <a:sym typeface="Times New Roman"/>
              </a:rPr>
              <a:t> </a:t>
            </a:r>
            <a:r>
              <a:rPr lang="en-IN" sz="2400" b="1" dirty="0">
                <a:solidFill>
                  <a:srgbClr val="051D3A"/>
                </a:solidFill>
                <a:latin typeface="Times New Roman"/>
                <a:ea typeface="Times New Roman"/>
                <a:cs typeface="Times New Roman"/>
                <a:sym typeface="Times New Roman"/>
              </a:rPr>
              <a:t>Component Use</a:t>
            </a:r>
            <a:r>
              <a:rPr lang="en-US" sz="2400" b="1" dirty="0">
                <a:sym typeface="Times New Roman"/>
              </a:rPr>
              <a:t>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293757" y="881134"/>
            <a:ext cx="8552099" cy="5047536"/>
          </a:xfrm>
          <a:prstGeom prst="rect">
            <a:avLst/>
          </a:prstGeom>
          <a:noFill/>
        </p:spPr>
        <p:txBody>
          <a:bodyPr wrap="square" rtlCol="0">
            <a:spAutoFit/>
          </a:bodyPr>
          <a:lstStyle/>
          <a:p>
            <a:endParaRPr lang="en-US" dirty="0">
              <a:highlight>
                <a:srgbClr val="FFFF00"/>
              </a:highlight>
            </a:endParaRPr>
          </a:p>
          <a:p>
            <a:pPr marL="342900" indent="-342900">
              <a:buAutoNum type="arabicParenR" startAt="3"/>
            </a:pPr>
            <a:endParaRPr lang="en-US" dirty="0"/>
          </a:p>
          <a:p>
            <a:r>
              <a:rPr lang="en-GB" dirty="0"/>
              <a:t>Watsonx Orchestrate Components Used –
</a:t>
            </a:r>
            <a:r>
              <a:rPr lang="en-GB" b="1" dirty="0"/>
              <a:t>1) Chat Interface –</a:t>
            </a:r>
            <a:r>
              <a:rPr lang="en-GB" dirty="0"/>
              <a:t> User-facing chat UI where users enter fitness queries, goals, or ask for workout advice via text/voice.
</a:t>
            </a:r>
            <a:r>
              <a:rPr lang="en-GB" b="1" dirty="0"/>
              <a:t>2) IBM watsonx Orchestrate Agent</a:t>
            </a:r>
            <a:r>
              <a:rPr lang="en-GB" dirty="0"/>
              <a:t> – Core agent that understands user intent and orchestrates the conversation flow using IBM Granite LLM to generate personalized workout plans and motivational responses.</a:t>
            </a:r>
            <a:r>
              <a:rPr lang="en-GB" b="1" dirty="0"/>
              <a:t>
3)</a:t>
            </a:r>
            <a:r>
              <a:rPr lang="en-GB" dirty="0"/>
              <a:t> </a:t>
            </a:r>
            <a:r>
              <a:rPr lang="en-GB" b="1" dirty="0"/>
              <a:t>Name</a:t>
            </a:r>
            <a:r>
              <a:rPr lang="en-GB" dirty="0"/>
              <a:t> </a:t>
            </a:r>
            <a:r>
              <a:rPr lang="en-GB" b="1" dirty="0"/>
              <a:t>of</a:t>
            </a:r>
            <a:r>
              <a:rPr lang="en-GB" dirty="0"/>
              <a:t> </a:t>
            </a:r>
            <a:r>
              <a:rPr lang="en-GB" b="1" dirty="0"/>
              <a:t>IBM</a:t>
            </a:r>
            <a:r>
              <a:rPr lang="en-GB" dirty="0"/>
              <a:t> </a:t>
            </a:r>
            <a:r>
              <a:rPr lang="en-GB" b="1" dirty="0"/>
              <a:t>Granite</a:t>
            </a:r>
            <a:r>
              <a:rPr lang="en-GB" dirty="0"/>
              <a:t> </a:t>
            </a:r>
            <a:r>
              <a:rPr lang="en-GB" b="1" dirty="0"/>
              <a:t>model</a:t>
            </a:r>
            <a:r>
              <a:rPr lang="en-GB" dirty="0"/>
              <a:t> – Default → Optimized for instruction following, natural dialogue, and personalized coaching responses.
</a:t>
            </a:r>
            <a:r>
              <a:rPr lang="en-GB" b="1" dirty="0"/>
              <a:t>4)</a:t>
            </a:r>
            <a:r>
              <a:rPr lang="en-GB" dirty="0"/>
              <a:t> </a:t>
            </a:r>
            <a:r>
              <a:rPr lang="en-GB" b="1" dirty="0"/>
              <a:t>Built-in</a:t>
            </a:r>
            <a:r>
              <a:rPr lang="en-GB" dirty="0"/>
              <a:t> </a:t>
            </a:r>
            <a:r>
              <a:rPr lang="en-GB" b="1" dirty="0"/>
              <a:t>Tools</a:t>
            </a:r>
            <a:r>
              <a:rPr lang="en-GB" dirty="0"/>
              <a:t> </a:t>
            </a:r>
            <a:r>
              <a:rPr lang="en-GB" b="1" dirty="0"/>
              <a:t>Used</a:t>
            </a:r>
            <a:r>
              <a:rPr lang="en-GB" dirty="0"/>
              <a:t> –
   - Web Search Tool: Fetches latest fitness tips and exercise form guidance
   - Calculator Tool: Computes workout intervals, BMI, and basic fitness metrics
   - DateTime Tool: Manages workout schedules and streak tracking
</a:t>
            </a:r>
            <a:r>
              <a:rPr lang="en-GB" b="1" dirty="0"/>
              <a:t>5)</a:t>
            </a:r>
            <a:r>
              <a:rPr lang="en-GB" dirty="0"/>
              <a:t> </a:t>
            </a:r>
            <a:r>
              <a:rPr lang="en-GB" b="1" dirty="0"/>
              <a:t>Conversation</a:t>
            </a:r>
            <a:r>
              <a:rPr lang="en-GB" dirty="0"/>
              <a:t> </a:t>
            </a:r>
            <a:r>
              <a:rPr lang="en-GB" b="1" dirty="0"/>
              <a:t>Memory</a:t>
            </a:r>
            <a:r>
              <a:rPr lang="en-GB" dirty="0"/>
              <a:t> – Maintains chat history to track user progress, remember workout streaks, and provide consistent habit-building</a:t>
            </a:r>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89"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IN" sz="2400" b="1" dirty="0">
                <a:sym typeface="Times New Roman"/>
              </a:rPr>
              <a:t>Watsonx orchestrate Health Agent</a:t>
            </a:r>
            <a:r>
              <a:rPr lang="en-US" sz="2400" b="1" dirty="0">
                <a:sym typeface="Times New Roman"/>
              </a:rPr>
              <a:t> -</a:t>
            </a:r>
            <a:endParaRPr sz="2400" b="1" dirty="0">
              <a:sym typeface="Times New Roman"/>
            </a:endParaRPr>
          </a:p>
        </p:txBody>
      </p:sp>
      <p:pic>
        <p:nvPicPr>
          <p:cNvPr id="4" name="Picture 3">
            <a:extLst>
              <a:ext uri="{FF2B5EF4-FFF2-40B4-BE49-F238E27FC236}">
                <a16:creationId xmlns:a16="http://schemas.microsoft.com/office/drawing/2014/main" id="{B6894D74-F995-0281-0BFE-1F0773511DA8}"/>
              </a:ext>
            </a:extLst>
          </p:cNvPr>
          <p:cNvPicPr>
            <a:picLocks noChangeAspect="1"/>
          </p:cNvPicPr>
          <p:nvPr/>
        </p:nvPicPr>
        <p:blipFill>
          <a:blip r:embed="rId3"/>
          <a:stretch>
            <a:fillRect/>
          </a:stretch>
        </p:blipFill>
        <p:spPr>
          <a:xfrm>
            <a:off x="537589" y="983015"/>
            <a:ext cx="11221456" cy="500907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37279-BE17-0A16-96C9-4176BCAC2524}"/>
              </a:ext>
            </a:extLst>
          </p:cNvPr>
          <p:cNvPicPr>
            <a:picLocks noChangeAspect="1"/>
          </p:cNvPicPr>
          <p:nvPr/>
        </p:nvPicPr>
        <p:blipFill>
          <a:blip r:embed="rId2"/>
          <a:stretch>
            <a:fillRect/>
          </a:stretch>
        </p:blipFill>
        <p:spPr>
          <a:xfrm>
            <a:off x="460374" y="775549"/>
            <a:ext cx="10031595" cy="5153764"/>
          </a:xfrm>
          <a:prstGeom prst="rect">
            <a:avLst/>
          </a:prstGeom>
        </p:spPr>
      </p:pic>
    </p:spTree>
    <p:extLst>
      <p:ext uri="{BB962C8B-B14F-4D97-AF65-F5344CB8AC3E}">
        <p14:creationId xmlns:p14="http://schemas.microsoft.com/office/powerpoint/2010/main" val="4129745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a:extLst>
              <a:ext uri="{FF2B5EF4-FFF2-40B4-BE49-F238E27FC236}">
                <a16:creationId xmlns:a16="http://schemas.microsoft.com/office/drawing/2014/main" id="{E5B320AC-4ADB-A802-112D-FE32CCD9826F}"/>
              </a:ext>
            </a:extLst>
          </p:cNvPr>
          <p:cNvPicPr>
            <a:picLocks noChangeAspect="1"/>
          </p:cNvPicPr>
          <p:nvPr/>
        </p:nvPicPr>
        <p:blipFill>
          <a:blip r:embed="rId3"/>
          <a:stretch>
            <a:fillRect/>
          </a:stretch>
        </p:blipFill>
        <p:spPr>
          <a:xfrm>
            <a:off x="696516" y="719666"/>
            <a:ext cx="10358437" cy="59597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a:t>
            </a:r>
            <a:r>
              <a:rPr lang="en-GB" b="1" dirty="0"/>
              <a:t>fitness</a:t>
            </a:r>
            <a:r>
              <a:rPr lang="en-US" b="1" dirty="0"/>
              <a:t> Agent</a:t>
            </a:r>
          </a:p>
          <a:p>
            <a:r>
              <a:rPr lang="en-US" b="1" dirty="0"/>
              <a:t>Agentic AI</a:t>
            </a:r>
            <a:r>
              <a:rPr lang="en-US" dirty="0"/>
              <a:t> enables the </a:t>
            </a:r>
            <a:r>
              <a:rPr lang="en-GB" dirty="0"/>
              <a:t>Fitness A</a:t>
            </a:r>
            <a:r>
              <a:rPr lang="en-US" dirty="0"/>
              <a:t>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a:t>
            </a:r>
            <a:r>
              <a:rPr lang="en-GB" dirty="0"/>
              <a:t>Fitness and nutrition intake </a:t>
            </a:r>
            <a:r>
              <a:rPr lang="en-US" dirty="0"/>
              <a:t>guidance</a:t>
            </a:r>
            <a:r>
              <a:rPr lang="en-GB" dirty="0"/>
              <a:t>. Each</a:t>
            </a:r>
            <a:r>
              <a:rPr lang="en-US" dirty="0"/>
              <a:t> agent performs a specific role—such as retrieving </a:t>
            </a:r>
            <a:r>
              <a:rPr lang="en-GB" dirty="0"/>
              <a:t>Fitness </a:t>
            </a:r>
            <a:r>
              <a:rPr lang="en-US" dirty="0"/>
              <a:t>data, generating </a:t>
            </a:r>
            <a:r>
              <a:rPr lang="en-GB" dirty="0"/>
              <a:t>p</a:t>
            </a:r>
            <a:r>
              <a:rPr lang="en-US" dirty="0"/>
              <a:t>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52224" y="946297"/>
            <a:ext cx="10515600" cy="5786199"/>
          </a:xfrm>
          <a:prstGeom prst="rect">
            <a:avLst/>
          </a:prstGeom>
          <a:noFill/>
        </p:spPr>
        <p:txBody>
          <a:bodyPr wrap="square" rtlCol="0">
            <a:spAutoFit/>
          </a:bodyPr>
          <a:lstStyle/>
          <a:p>
            <a:r>
              <a:rPr lang="en-GB" sz="1800" dirty="0"/>
              <a:t>
• </a:t>
            </a:r>
            <a:r>
              <a:rPr lang="en-GB" sz="1800" b="1" dirty="0"/>
              <a:t>IBM</a:t>
            </a:r>
            <a:r>
              <a:rPr lang="en-GB" sz="1800" dirty="0"/>
              <a:t> </a:t>
            </a:r>
            <a:r>
              <a:rPr lang="en-GB" sz="1800" b="1" dirty="0"/>
              <a:t>watsonx</a:t>
            </a:r>
            <a:r>
              <a:rPr lang="en-GB" sz="1800" dirty="0"/>
              <a:t> </a:t>
            </a:r>
            <a:r>
              <a:rPr lang="en-GB" sz="1800" b="1" dirty="0"/>
              <a:t>Orchestrate</a:t>
            </a:r>
            <a:r>
              <a:rPr lang="en-GB" sz="1800" dirty="0"/>
              <a:t> – For designing and orchestrating the single-agent fitness coach. Provides built-in chat UI, tool integration, and conversation management without custom coding.
• </a:t>
            </a:r>
            <a:r>
              <a:rPr lang="en-GB" sz="1800" b="1" dirty="0"/>
              <a:t>IBM</a:t>
            </a:r>
            <a:r>
              <a:rPr lang="en-GB" sz="1800" dirty="0"/>
              <a:t> </a:t>
            </a:r>
            <a:r>
              <a:rPr lang="en-GB" sz="1800" b="1" dirty="0"/>
              <a:t>Granite</a:t>
            </a:r>
            <a:r>
              <a:rPr lang="en-GB" sz="1800" dirty="0"/>
              <a:t> </a:t>
            </a:r>
            <a:r>
              <a:rPr lang="en-GB" sz="1800" b="1" dirty="0"/>
              <a:t>Model</a:t>
            </a:r>
            <a:r>
              <a:rPr lang="en-GB" sz="1800" dirty="0"/>
              <a:t> – Default– For natural language understanding, workout plan generation, and personalized motivational coaching. Optimized for instruction following and safe dialogue.
• </a:t>
            </a:r>
            <a:r>
              <a:rPr lang="en-GB" sz="1800" b="1" dirty="0"/>
              <a:t>IBM</a:t>
            </a:r>
            <a:r>
              <a:rPr lang="en-GB" sz="1800" dirty="0"/>
              <a:t> </a:t>
            </a:r>
            <a:r>
              <a:rPr lang="en-GB" sz="1800" b="1" dirty="0"/>
              <a:t>Cloud</a:t>
            </a:r>
            <a:r>
              <a:rPr lang="en-GB" sz="1800" dirty="0"/>
              <a:t> </a:t>
            </a:r>
            <a:r>
              <a:rPr lang="en-GB" sz="1800" b="1" dirty="0"/>
              <a:t>Lite</a:t>
            </a:r>
            <a:r>
              <a:rPr lang="en-GB" sz="1800" dirty="0"/>
              <a:t> – Provides reliable, secure, and scalable environment for deploying the Fitness Buddy agent. Handles hosting, scaling, and API management automatically.
• </a:t>
            </a:r>
            <a:r>
              <a:rPr lang="en-GB" sz="1800" b="1" dirty="0"/>
              <a:t>Built-in</a:t>
            </a:r>
            <a:r>
              <a:rPr lang="en-GB" sz="1800" dirty="0"/>
              <a:t> </a:t>
            </a:r>
            <a:r>
              <a:rPr lang="en-GB" sz="1800" b="1" dirty="0"/>
              <a:t>Tools</a:t>
            </a:r>
            <a:r>
              <a:rPr lang="en-GB" sz="1800" dirty="0"/>
              <a:t> – Web Search Tool for latest exercise forms, Calculator Tool for BMI/workout intervals, DateTime Tool for streak tracking and scheduling. No external databases required.
• </a:t>
            </a:r>
            <a:r>
              <a:rPr lang="en-GB" sz="1800" b="1" dirty="0"/>
              <a:t>Orchestrate</a:t>
            </a:r>
            <a:r>
              <a:rPr lang="en-GB" sz="1800" dirty="0"/>
              <a:t> </a:t>
            </a:r>
            <a:r>
              <a:rPr lang="en-GB" sz="1800" b="1" dirty="0"/>
              <a:t>Skills</a:t>
            </a:r>
            <a:r>
              <a:rPr lang="en-GB" sz="1800" dirty="0"/>
              <a:t> </a:t>
            </a:r>
            <a:r>
              <a:rPr lang="en-GB" sz="1800" b="1" dirty="0"/>
              <a:t>&amp;</a:t>
            </a:r>
            <a:r>
              <a:rPr lang="en-GB" sz="1800" dirty="0"/>
              <a:t> </a:t>
            </a:r>
            <a:r>
              <a:rPr lang="en-GB" sz="1800" b="1" dirty="0"/>
              <a:t>Memory</a:t>
            </a:r>
            <a:r>
              <a:rPr lang="en-GB" sz="1800" dirty="0"/>
              <a:t> – Custom Skills store user profile like fitness level, equipment, goals. Conversation Memory maintains chat history and workout streaks for context-aware coaching.
• </a:t>
            </a:r>
            <a:r>
              <a:rPr lang="en-GB" sz="1800" b="1" dirty="0"/>
              <a:t>IBM</a:t>
            </a:r>
            <a:r>
              <a:rPr lang="en-GB" sz="1800" dirty="0"/>
              <a:t> </a:t>
            </a:r>
            <a:r>
              <a:rPr lang="en-GB" sz="1800" b="1" dirty="0"/>
              <a:t>watsonx</a:t>
            </a:r>
            <a:r>
              <a:rPr lang="en-GB" sz="1800" dirty="0"/>
              <a:t>.</a:t>
            </a:r>
            <a:r>
              <a:rPr lang="en-GB" sz="1800" b="1" dirty="0"/>
              <a:t>ai</a:t>
            </a:r>
            <a:r>
              <a:rPr lang="en-GB" sz="1800" dirty="0"/>
              <a:t> – For hosting and inferencing the Granite foundation model. Provides enterprise-grade AI governance and safety.</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70318"/>
          </a:xfrm>
          <a:prstGeom prst="rect">
            <a:avLst/>
          </a:prstGeom>
          <a:noFill/>
        </p:spPr>
        <p:txBody>
          <a:bodyPr wrap="square" rtlCol="0">
            <a:spAutoFit/>
          </a:bodyPr>
          <a:lstStyle/>
          <a:p>
            <a:r>
              <a:rPr lang="en-GB" dirty="0"/>
              <a:t>The proposed Fitness Buddy stands out by combining </a:t>
            </a:r>
            <a:r>
              <a:rPr lang="en-GB" b="1" dirty="0"/>
              <a:t>Agentic AI, Tool Use, </a:t>
            </a:r>
            <a:r>
              <a:rPr lang="en-GB" i="1" dirty="0"/>
              <a:t>and </a:t>
            </a:r>
            <a:r>
              <a:rPr lang="en-GB" dirty="0"/>
              <a:t>Habit-Building into a single intelligent fitness coach system.
</a:t>
            </a:r>
            <a:r>
              <a:rPr lang="en-GB" b="1" dirty="0"/>
              <a:t>Single-Agent</a:t>
            </a:r>
            <a:r>
              <a:rPr lang="en-GB" dirty="0"/>
              <a:t> </a:t>
            </a:r>
            <a:r>
              <a:rPr lang="en-GB" b="1" dirty="0"/>
              <a:t>Intelligence</a:t>
            </a:r>
            <a:r>
              <a:rPr lang="en-GB" dirty="0"/>
              <a:t> – Instead of complex multi-agent systems, watsonx Orchestrate uses one autonomous agent that handles workout planning, motivation, and progress tracking. The agent proactively decides when to use tools, ask follow-ups, or give encouragement.
</a:t>
            </a:r>
            <a:r>
              <a:rPr lang="en-GB" b="1" dirty="0"/>
              <a:t>Tool-Augmented</a:t>
            </a:r>
            <a:r>
              <a:rPr lang="en-GB" dirty="0"/>
              <a:t> </a:t>
            </a:r>
            <a:r>
              <a:rPr lang="en-GB" b="1" dirty="0"/>
              <a:t>Accuracy</a:t>
            </a:r>
            <a:r>
              <a:rPr lang="en-GB" dirty="0"/>
              <a:t> – Integrates real-time Web Search for latest exercise forms and Calculator for accurate BMI/intervals, ensuring trustworthy workout guidance without hallucination.
</a:t>
            </a:r>
            <a:r>
              <a:rPr lang="en-GB" b="1" dirty="0"/>
              <a:t>Hyper-Personalization</a:t>
            </a:r>
            <a:r>
              <a:rPr lang="en-GB" dirty="0"/>
              <a:t> – Adapts recommendations based on fitness level, available equipment, time constraints, and goals. No generic YouTube workouts – every plan is tailored.
</a:t>
            </a:r>
            <a:r>
              <a:rPr lang="en-GB" b="1" dirty="0"/>
              <a:t>Habit-Building</a:t>
            </a:r>
            <a:r>
              <a:rPr lang="en-GB" dirty="0"/>
              <a:t> </a:t>
            </a:r>
            <a:r>
              <a:rPr lang="en-GB" b="1" dirty="0"/>
              <a:t>Focus</a:t>
            </a:r>
            <a:r>
              <a:rPr lang="en-GB" dirty="0"/>
              <a:t> – Goes beyond workout generation to maintain consistency. Tracks streaks, sends motivational nudges, and handles excuses using DateTime Tool + Granite LLM for empathetic coaching.
</a:t>
            </a:r>
            <a:r>
              <a:rPr lang="en-GB" b="1" dirty="0"/>
              <a:t>Zero-Code</a:t>
            </a:r>
            <a:r>
              <a:rPr lang="en-GB" dirty="0"/>
              <a:t> </a:t>
            </a:r>
            <a:r>
              <a:rPr lang="en-GB" b="1" dirty="0"/>
              <a:t>Agentic</a:t>
            </a:r>
            <a:r>
              <a:rPr lang="en-GB" dirty="0"/>
              <a:t> </a:t>
            </a:r>
            <a:r>
              <a:rPr lang="en-GB" b="1" dirty="0"/>
              <a:t>Flow</a:t>
            </a:r>
            <a:r>
              <a:rPr lang="en-GB" dirty="0"/>
              <a:t> – Built on IBM watsonx Orchestrate with IBM Granite models, ensuring enterprise-grade reliability and AI governance without complex RAG pipelines or vector databases.
This makes the solution a smart, adaptive, and proactive digital fitness buddy, not just a static workout list generator.</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10211276"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1" dirty="0">
                <a:solidFill>
                  <a:srgbClr val="2B3541"/>
                </a:solidFill>
                <a:latin typeface="Times New Roman"/>
                <a:ea typeface="Times New Roman"/>
                <a:cs typeface="Times New Roman"/>
                <a:sym typeface="Times New Roman"/>
              </a:rPr>
              <a:t>Wor</a:t>
            </a:r>
            <a:r>
              <a:rPr lang="en-US" sz="1850" b="1" dirty="0">
                <a:solidFill>
                  <a:srgbClr val="2B3541"/>
                </a:solidFill>
                <a:latin typeface="Times New Roman"/>
                <a:ea typeface="Times New Roman"/>
                <a:cs typeface="Times New Roman"/>
                <a:sym typeface="Times New Roman"/>
              </a:rPr>
              <a:t>king</a:t>
            </a:r>
            <a:r>
              <a:rPr lang="en-US" sz="1850" dirty="0">
                <a:solidFill>
                  <a:srgbClr val="2B3541"/>
                </a:solidFill>
                <a:latin typeface="Times New Roman"/>
                <a:ea typeface="Times New Roman"/>
                <a:cs typeface="Times New Roman"/>
                <a:sym typeface="Times New Roman"/>
              </a:rPr>
              <a:t>  </a:t>
            </a:r>
            <a:r>
              <a:rPr lang="en-US" sz="1850" b="1" dirty="0">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b="1" dirty="0">
                <a:solidFill>
                  <a:srgbClr val="2B3541"/>
                </a:solidFill>
                <a:latin typeface="Times New Roman"/>
                <a:ea typeface="Times New Roman"/>
                <a:cs typeface="Times New Roman"/>
                <a:sym typeface="Times New Roman"/>
              </a:rPr>
              <a:t>URL</a:t>
            </a:r>
            <a:r>
              <a:rPr lang="en-US" sz="1850" dirty="0">
                <a:solidFill>
                  <a:srgbClr val="2B3541"/>
                </a:solidFill>
                <a:latin typeface="Times New Roman"/>
                <a:ea typeface="Times New Roman"/>
                <a:cs typeface="Times New Roman"/>
                <a:sym typeface="Times New Roman"/>
              </a:rPr>
              <a:t> –</a:t>
            </a:r>
            <a:r>
              <a:rPr lang="en-IN" sz="1850" dirty="0">
                <a:solidFill>
                  <a:srgbClr val="2B3541"/>
                </a:solidFill>
                <a:latin typeface="Times New Roman"/>
                <a:ea typeface="Times New Roman"/>
                <a:cs typeface="Times New Roman"/>
                <a:sym typeface="Times New Roman"/>
              </a:rPr>
              <a:t> https://github.com/deepak2003-tech/Fitness-agent-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Uploaded following three files into github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IN" sz="1850" dirty="0">
                <a:solidFill>
                  <a:srgbClr val="2B3541"/>
                </a:solidFill>
                <a:latin typeface="Times New Roman"/>
                <a:ea typeface="Times New Roman"/>
                <a:cs typeface="Times New Roman"/>
                <a:sym typeface="Times New Roman"/>
              </a:rPr>
              <a:t>index.html</a:t>
            </a:r>
            <a:r>
              <a:rPr lang="en-US" sz="1850" dirty="0">
                <a:solidFill>
                  <a:srgbClr val="2B3541"/>
                </a:solidFill>
                <a:latin typeface="Times New Roman"/>
                <a:ea typeface="Times New Roman"/>
                <a:cs typeface="Times New Roman"/>
                <a:sym typeface="Times New Roman"/>
              </a:rPr>
              <a:t> file </a:t>
            </a:r>
            <a:r>
              <a:rPr lang="en-IN" sz="1850" dirty="0">
                <a:solidFill>
                  <a:srgbClr val="2B3541"/>
                </a:solidFill>
                <a:latin typeface="Times New Roman"/>
                <a:ea typeface="Times New Roman"/>
                <a:cs typeface="Times New Roman"/>
                <a:sym typeface="Times New Roman"/>
              </a:rPr>
              <a:t>, 2)</a:t>
            </a:r>
            <a:r>
              <a:rPr lang="en-US" sz="1850" dirty="0">
                <a:solidFill>
                  <a:srgbClr val="2B3541"/>
                </a:solidFill>
                <a:latin typeface="Times New Roman"/>
                <a:ea typeface="Times New Roman"/>
                <a:cs typeface="Times New Roman"/>
                <a:sym typeface="Times New Roman"/>
              </a:rPr>
              <a:t> projectpresntation.pptx file </a:t>
            </a:r>
            <a:r>
              <a:rPr lang="en-IN" sz="1850" dirty="0">
                <a:solidFill>
                  <a:srgbClr val="2B3541"/>
                </a:solidFill>
                <a:latin typeface="Times New Roman"/>
                <a:ea typeface="Times New Roman"/>
                <a:cs typeface="Times New Roman"/>
                <a:sym typeface="Times New Roman"/>
              </a:rPr>
              <a:t>, 3)app.json file</a:t>
            </a:r>
            <a:endParaRPr lang="en-US" sz="1850"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644686" y="420729"/>
            <a:ext cx="7018534" cy="472889"/>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2964750" y="2294930"/>
            <a:ext cx="7468554" cy="320378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1"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534566" y="970507"/>
            <a:ext cx="10287986" cy="5466763"/>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a:t>
            </a:r>
            <a:r>
              <a:rPr lang="en-GB" sz="1850" b="1" i="0" u="none" strike="noStrike" cap="none" dirty="0">
                <a:solidFill>
                  <a:srgbClr val="2B3541"/>
                </a:solidFill>
                <a:latin typeface="Times New Roman"/>
                <a:ea typeface="Times New Roman"/>
                <a:cs typeface="Times New Roman"/>
                <a:sym typeface="Times New Roman"/>
              </a:rPr>
              <a:t>1. Integration with Wearables &amp; Fitness Trackers –</a:t>
            </a:r>
            <a:r>
              <a:rPr lang="en-GB" sz="1850" b="0" i="0" u="none" strike="noStrike" cap="none" dirty="0">
                <a:solidFill>
                  <a:srgbClr val="2B3541"/>
                </a:solidFill>
                <a:latin typeface="Times New Roman"/>
                <a:ea typeface="Times New Roman"/>
                <a:cs typeface="Times New Roman"/>
                <a:sym typeface="Times New Roman"/>
              </a:rPr>
              <a:t>
   The system can be integrated with smartwatches and fitness bands to collect real-time data such as steps, heart rate, and active minutes. This will enable the Fitness Buddy to provide more accurate and dynamic workout recommendations based on actual user activity and recovery metrics.
</a:t>
            </a:r>
            <a:r>
              <a:rPr lang="en-GB" sz="1850" b="1" i="0" u="none" strike="noStrike" cap="none" dirty="0">
                <a:solidFill>
                  <a:srgbClr val="2B3541"/>
                </a:solidFill>
                <a:latin typeface="Times New Roman"/>
                <a:ea typeface="Times New Roman"/>
                <a:cs typeface="Times New Roman"/>
                <a:sym typeface="Times New Roman"/>
              </a:rPr>
              <a:t>2. AI-Powered Voice Coach &amp; Multilingual Support –</a:t>
            </a:r>
            <a:r>
              <a:rPr lang="en-GB" sz="1850" b="0" i="0" u="none" strike="noStrike" cap="none" dirty="0">
                <a:solidFill>
                  <a:srgbClr val="2B3541"/>
                </a:solidFill>
                <a:latin typeface="Times New Roman"/>
                <a:ea typeface="Times New Roman"/>
                <a:cs typeface="Times New Roman"/>
                <a:sym typeface="Times New Roman"/>
              </a:rPr>
              <a:t>
   Enhancing the system with a voice-enabled assistant and support for multiple Indian languages like Hindi, Tamil, Telugu. Users can interact naturally during workouts in their preferred language, making the solution more inclusive for diverse populations across India.
</a:t>
            </a:r>
            <a:r>
              <a:rPr lang="en-GB" sz="1850" b="1" i="0" u="none" strike="noStrike" cap="none" dirty="0">
                <a:solidFill>
                  <a:srgbClr val="2B3541"/>
                </a:solidFill>
                <a:latin typeface="Times New Roman"/>
                <a:ea typeface="Times New Roman"/>
                <a:cs typeface="Times New Roman"/>
                <a:sym typeface="Times New Roman"/>
              </a:rPr>
              <a:t>3. Video Form Correction using Vision Models –</a:t>
            </a:r>
            <a:r>
              <a:rPr lang="en-GB" sz="1850" b="0" i="0" u="none" strike="noStrike" cap="none" dirty="0">
                <a:solidFill>
                  <a:srgbClr val="2B3541"/>
                </a:solidFill>
                <a:latin typeface="Times New Roman"/>
                <a:ea typeface="Times New Roman"/>
                <a:cs typeface="Times New Roman"/>
                <a:sym typeface="Times New Roman"/>
              </a:rPr>
              <a:t>
   Future versions can integrate with device cameras to analyze user exercise form in real-time. The agent can provide instant feedback on posture and technique using IBM</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644686" y="1051735"/>
            <a:ext cx="10902627" cy="5077987"/>
          </a:xfrm>
          <a:prstGeom prst="rect">
            <a:avLst/>
          </a:prstGeom>
          <a:noFill/>
          <a:ln>
            <a:noFill/>
          </a:ln>
        </p:spPr>
        <p:txBody>
          <a:bodyPr spcFirstLastPara="1" wrap="square" lIns="0" tIns="0" rIns="0" bIns="0" anchor="t" anchorCtr="0">
            <a:noAutofit/>
          </a:bodyPr>
          <a:lstStyle/>
          <a:p>
            <a:pPr marR="0" lvl="0" algn="l" rtl="0">
              <a:lnSpc>
                <a:spcPct val="162162"/>
              </a:lnSpc>
              <a:spcBef>
                <a:spcPts val="0"/>
              </a:spcBef>
              <a:spcAft>
                <a:spcPts val="0"/>
              </a:spcAft>
              <a:buClr>
                <a:srgbClr val="2B3541"/>
              </a:buClr>
              <a:buSzPts val="1850"/>
            </a:pPr>
            <a:endParaRPr lang="en-GB" sz="1850" dirty="0">
              <a:solidFill>
                <a:srgbClr val="2B3541"/>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1423</Words>
  <Application>Microsoft Office PowerPoint</Application>
  <PresentationFormat>Widescreen</PresentationFormat>
  <Paragraphs>125</Paragraphs>
  <Slides>15</Slides>
  <Notes>14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Deepak Phapale</cp:lastModifiedBy>
  <cp:revision>26</cp:revision>
  <dcterms:created xsi:type="dcterms:W3CDTF">2025-07-08T05:06:56Z</dcterms:created>
  <dcterms:modified xsi:type="dcterms:W3CDTF">2026-06-13T06:11:27Z</dcterms:modified>
</cp:coreProperties>
</file>